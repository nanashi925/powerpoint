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C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imson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5420855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3520" y="457200"/>
            <a:ext cx="45720" cy="5943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60720" y="1828800"/>
            <a:ext cx="5029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0" y="21031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600" b="1">
                <a:solidFill>
                  <a:srgbClr val="B41E1E"/>
                </a:solidFill>
                <a:latin typeface="Arial"/>
              </a:defRPr>
            </a:pPr>
            <a:r>
              <a:t>CRIMSON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291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D4AF37"/>
                </a:solidFill>
                <a:latin typeface="Arial"/>
              </a:defRPr>
            </a:pPr>
            <a:r>
              <a:t>Knolastname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4023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EB9B4"/>
                </a:solidFill>
                <a:latin typeface="Arial"/>
              </a:defRPr>
            </a:pPr>
            <a:r>
              <a:t>Greed Ring's Most Feared Mafia Boss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4846320"/>
            <a:ext cx="5029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8228"/>
                </a:solidFill>
                <a:latin typeface="Arial"/>
              </a:defRPr>
            </a:pPr>
            <a:r>
              <a:t>HELLUVA BOSS  |  Character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4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F0EB"/>
                </a:solidFill>
                <a:latin typeface="Arial"/>
              </a:defRPr>
            </a:pPr>
            <a:r>
              <a:t>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imson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478913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60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名前 :  Crimson（クリムゾン）</a:t>
            </a:r>
          </a:p>
          <a:p>
            <a:pPr algn="l">
              <a:spcAft>
                <a:spcPts val="1760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種族 :  インプ</a:t>
            </a:r>
          </a:p>
          <a:p>
            <a:pPr algn="l">
              <a:spcAft>
                <a:spcPts val="1760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リング :  強欲の環（Greed Ring）</a:t>
            </a:r>
          </a:p>
          <a:p>
            <a:pPr algn="l">
              <a:spcAft>
                <a:spcPts val="1760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役割 :  マフィアボス / 犯罪王</a:t>
            </a:r>
          </a:p>
          <a:p>
            <a:pPr algn="l">
              <a:spcAft>
                <a:spcPts val="1760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家族 :  モクシー（息子）</a:t>
            </a:r>
          </a:p>
          <a:p>
            <a:pPr algn="l">
              <a:spcAft>
                <a:spcPts val="1760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声優 :  Richard Steven Horvitz</a:t>
            </a:r>
          </a:p>
          <a:p>
            <a:pPr algn="l">
              <a:spcAft>
                <a:spcPts val="1760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初登場 :  "Exes and Oohs"（S2E6）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669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B9B4"/>
                </a:solidFill>
                <a:latin typeface="Arial"/>
              </a:defRPr>
            </a:pPr>
            <a:r>
              <a:t>強欲の環を支配するマフィアの頂点に立つインプ。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4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F0EB"/>
                </a:solidFill>
                <a:latin typeface="Arial"/>
              </a:defRPr>
            </a:pPr>
            <a:r>
              <a:t>外見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029200" cy="5212080"/>
          </a:xfrm>
          <a:prstGeom prst="rect">
            <a:avLst/>
          </a:prstGeom>
          <a:solidFill>
            <a:srgbClr val="12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imson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85216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60"/>
              </a:spcAft>
              <a:defRPr sz="2100" b="0">
                <a:solidFill>
                  <a:srgbClr val="F5F0EB"/>
                </a:solidFill>
                <a:latin typeface="Arial"/>
              </a:defRPr>
            </a:pPr>
            <a:r>
              <a:t>Blitzoに近い長身のインプ</a:t>
            </a:r>
          </a:p>
          <a:p>
            <a:pPr algn="l">
              <a:spcAft>
                <a:spcPts val="1260"/>
              </a:spcAft>
              <a:defRPr sz="2100" b="0">
                <a:solidFill>
                  <a:srgbClr val="F5F0EB"/>
                </a:solidFill>
                <a:latin typeface="Arial"/>
              </a:defRPr>
            </a:pPr>
            <a:r>
              <a:t>白髪 / 白黒の縞模様の角</a:t>
            </a:r>
          </a:p>
          <a:p>
            <a:pPr algn="l">
              <a:spcAft>
                <a:spcPts val="1260"/>
              </a:spcAft>
              <a:defRPr sz="2100" b="0">
                <a:solidFill>
                  <a:srgbClr val="F5F0EB"/>
                </a:solidFill>
                <a:latin typeface="Arial"/>
              </a:defRPr>
            </a:pPr>
            <a:r>
              <a:t>黄色い強膜に金の牙（右側）</a:t>
            </a:r>
          </a:p>
          <a:p>
            <a:pPr algn="l">
              <a:spcAft>
                <a:spcPts val="1260"/>
              </a:spcAft>
              <a:defRPr sz="2100" b="0">
                <a:solidFill>
                  <a:srgbClr val="F5F0EB"/>
                </a:solidFill>
                <a:latin typeface="Arial"/>
              </a:defRPr>
            </a:pPr>
            <a:r>
              <a:t>ダークレッドの肌</a:t>
            </a:r>
          </a:p>
          <a:p>
            <a:pPr algn="l">
              <a:spcAft>
                <a:spcPts val="1260"/>
              </a:spcAft>
              <a:defRPr sz="2100" b="0">
                <a:solidFill>
                  <a:srgbClr val="F5F0EB"/>
                </a:solidFill>
                <a:latin typeface="Arial"/>
              </a:defRPr>
            </a:pPr>
            <a:r>
              <a:t>黒いフェドーラ帽（赤白バンド付き）</a:t>
            </a:r>
          </a:p>
          <a:p>
            <a:pPr algn="l">
              <a:spcAft>
                <a:spcPts val="1260"/>
              </a:spcAft>
              <a:defRPr sz="2100" b="0">
                <a:solidFill>
                  <a:srgbClr val="F5F0EB"/>
                </a:solidFill>
                <a:latin typeface="Arial"/>
              </a:defRPr>
            </a:pPr>
            <a:r>
              <a:t>ネイビーブルーのコートに赤いシャツ</a:t>
            </a:r>
          </a:p>
          <a:p>
            <a:pPr algn="l">
              <a:spcAft>
                <a:spcPts val="1260"/>
              </a:spcAft>
              <a:defRPr sz="2100" b="0">
                <a:solidFill>
                  <a:srgbClr val="F5F0EB"/>
                </a:solidFill>
                <a:latin typeface="Arial"/>
              </a:defRPr>
            </a:pPr>
            <a:r>
              <a:t>蹠行性（かかとを地面につける）の脚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4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F0EB"/>
                </a:solidFill>
                <a:latin typeface="Arial"/>
              </a:defRPr>
            </a:pPr>
            <a:r>
              <a:t>性格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imson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82880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2200" b="1">
                <a:solidFill>
                  <a:srgbClr val="F5F0EB"/>
                </a:solidFill>
                <a:latin typeface="Arial"/>
              </a:defRPr>
            </a:pPr>
            <a:r>
              <a:t>◆ 残忍かつ冷酷なマフィアのボス</a:t>
            </a:r>
          </a:p>
          <a:p>
            <a:pPr algn="l">
              <a:spcAft>
                <a:spcPts val="1100"/>
              </a:spcAft>
              <a:defRPr sz="2200" b="1">
                <a:solidFill>
                  <a:srgbClr val="F5F0EB"/>
                </a:solidFill>
                <a:latin typeface="Arial"/>
              </a:defRPr>
            </a:pPr>
            <a:r>
              <a:t>◆ 絶対的な恐怖で組織を支配する</a:t>
            </a:r>
          </a:p>
          <a:p>
            <a:pPr algn="l">
              <a:spcAft>
                <a:spcPts val="1100"/>
              </a:spcAft>
              <a:defRPr sz="2200" b="1">
                <a:solidFill>
                  <a:srgbClr val="F5F0EB"/>
                </a:solidFill>
                <a:latin typeface="Arial"/>
              </a:defRPr>
            </a:pPr>
            <a:r>
              <a:t>◆ 必要な時には魅力的で温厚な顔も見せる</a:t>
            </a:r>
          </a:p>
          <a:p>
            <a:pPr algn="l">
              <a:spcAft>
                <a:spcPts val="1100"/>
              </a:spcAft>
              <a:defRPr sz="2200" b="1">
                <a:solidFill>
                  <a:srgbClr val="F5F0EB"/>
                </a:solidFill>
                <a:latin typeface="Arial"/>
              </a:defRPr>
            </a:pPr>
            <a:r>
              <a:t>◆ サメ悪魔のギャング軍団を統率</a:t>
            </a:r>
          </a:p>
          <a:p>
            <a:pPr algn="l">
              <a:spcAft>
                <a:spcPts val="1100"/>
              </a:spcAft>
              <a:defRPr sz="2200" b="1">
                <a:solidFill>
                  <a:srgbClr val="F5F0EB"/>
                </a:solidFill>
                <a:latin typeface="Arial"/>
              </a:defRPr>
            </a:pPr>
            <a:r>
              <a:t>◆ 脅迫・暴力・心理操作を駆使する策略家</a:t>
            </a:r>
          </a:p>
          <a:p>
            <a:pPr algn="l">
              <a:spcAft>
                <a:spcPts val="1100"/>
              </a:spcAft>
              <a:defRPr sz="2200" b="1">
                <a:solidFill>
                  <a:srgbClr val="F5F0EB"/>
                </a:solidFill>
                <a:latin typeface="Arial"/>
              </a:defRPr>
            </a:pPr>
            <a:r>
              <a:t>◆ 冷酷と魅力のギャップに満ちた男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2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0" y="0"/>
            <a:ext cx="54864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imson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74320"/>
            <a:ext cx="7420598" cy="6309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65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F37"/>
                </a:solidFill>
                <a:latin typeface="Arial"/>
              </a:defRPr>
            </a:pPr>
            <a:r>
              <a:t>THE DON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45720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99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強欲の環を牛耳る犯罪帝国の長。</a:t>
            </a:r>
          </a:p>
          <a:p>
            <a:pPr algn="l">
              <a:spcAft>
                <a:spcPts val="299"/>
              </a:spcAft>
              <a:defRPr sz="2000" b="0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299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サメ悪魔の大軍を従え、</a:t>
            </a:r>
          </a:p>
          <a:p>
            <a:pPr algn="l">
              <a:spcAft>
                <a:spcPts val="299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恐喝と暴力で勢力を拡大する。</a:t>
            </a:r>
          </a:p>
          <a:p>
            <a:pPr algn="l">
              <a:spcAft>
                <a:spcPts val="299"/>
              </a:spcAft>
              <a:defRPr sz="2000" b="0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299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財政危機に際しては</a:t>
            </a:r>
          </a:p>
          <a:p>
            <a:pPr algn="l">
              <a:spcAft>
                <a:spcPts val="299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チャズとの政略結婚すら画策する野心家。</a:t>
            </a:r>
          </a:p>
          <a:p>
            <a:pPr algn="l">
              <a:spcAft>
                <a:spcPts val="299"/>
              </a:spcAft>
              <a:defRPr sz="2000" b="0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299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ストライカーを雇い、</a:t>
            </a:r>
          </a:p>
          <a:p>
            <a:pPr algn="l">
              <a:spcAft>
                <a:spcPts val="299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フィズロリを人質にアスモデウス</a:t>
            </a:r>
          </a:p>
          <a:p>
            <a:pPr algn="l">
              <a:spcAft>
                <a:spcPts val="299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すら脅迫する大胆さ。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4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F0EB"/>
                </a:solidFill>
                <a:latin typeface="Arial"/>
              </a:defRPr>
            </a:pPr>
            <a:r>
              <a:t>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imson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27246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F37"/>
                </a:solidFill>
                <a:latin typeface="Arial"/>
              </a:defRPr>
            </a:pPr>
            <a:r>
              <a:t>統率力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B9B4"/>
                </a:solidFill>
                <a:latin typeface="Arial"/>
              </a:defRPr>
            </a:pPr>
            <a:r>
              <a:t>絶対的なカリスマで巨大組織を率いる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F37"/>
                </a:solidFill>
                <a:latin typeface="Arial"/>
              </a:defRPr>
            </a:pPr>
            <a:r>
              <a:t>心理操作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B9B4"/>
                </a:solidFill>
                <a:latin typeface="Arial"/>
              </a:defRPr>
            </a:pPr>
            <a:r>
              <a:t>長年にわたりモクシーの精神を支配し、</a:t>
            </a:r>
            <a:br/>
            <a:r>
              <a:t>脅迫と心理戦で周囲を操る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F37"/>
                </a:solidFill>
                <a:latin typeface="Arial"/>
              </a:defRPr>
            </a:pPr>
            <a:r>
              <a:t>武器の扱い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B9B4"/>
                </a:solidFill>
                <a:latin typeface="Arial"/>
              </a:defRPr>
            </a:pPr>
            <a:r>
              <a:t>ナイフの投擲に秀でた腕前を持つ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F37"/>
                </a:solidFill>
                <a:latin typeface="Arial"/>
              </a:defRPr>
            </a:pPr>
            <a:r>
              <a:t>演技力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B9B4"/>
                </a:solidFill>
                <a:latin typeface="Arial"/>
              </a:defRPr>
            </a:pPr>
            <a:r>
              <a:t>温厚な紳士から冷酷な暴君まで、</a:t>
            </a:r>
            <a:br/>
            <a:r>
              <a:t>自在に顔を使い分ける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4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F0EB"/>
                </a:solidFill>
                <a:latin typeface="Arial"/>
              </a:defRPr>
            </a:pPr>
            <a:r>
              <a:t>クリムゾンとモクシー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imson-lo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16063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6459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マフィアのボスの息子として、</a:t>
            </a:r>
          </a:p>
          <a:p>
            <a:pPr algn="l">
              <a:spcAft>
                <a:spcPts val="439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茨の道を歩ませなければならなかった。</a:t>
            </a:r>
          </a:p>
          <a:p>
            <a:pPr algn="l">
              <a:spcAft>
                <a:spcPts val="439"/>
              </a:spcAft>
              <a:defRPr sz="2200" b="0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439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「殺らなきゃ殺られる」世界で</a:t>
            </a:r>
          </a:p>
          <a:p>
            <a:pPr algn="l">
              <a:spcAft>
                <a:spcPts val="439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息子が生き残れるよう厳しく育てた。</a:t>
            </a:r>
          </a:p>
          <a:p>
            <a:pPr algn="l">
              <a:spcAft>
                <a:spcPts val="439"/>
              </a:spcAft>
              <a:defRPr sz="2200" b="0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439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家を出て結婚した息子を、</a:t>
            </a:r>
          </a:p>
          <a:p>
            <a:pPr algn="l">
              <a:spcAft>
                <a:spcPts val="439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すぐに追わず静かに見守っていた。</a:t>
            </a:r>
          </a:p>
          <a:p>
            <a:pPr algn="l">
              <a:spcAft>
                <a:spcPts val="439"/>
              </a:spcAft>
              <a:defRPr sz="2200" b="0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439"/>
              </a:spcAft>
              <a:defRPr sz="2200" b="0">
                <a:solidFill>
                  <a:srgbClr val="F5F0EB"/>
                </a:solidFill>
                <a:latin typeface="Arial"/>
              </a:defRPr>
            </a:pPr>
            <a:r>
              <a:t>―― 不器用すぎる、歪んだ父の愛。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4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F0EB"/>
                </a:solidFill>
                <a:latin typeface="Arial"/>
              </a:defRPr>
            </a:pPr>
            <a:r>
              <a:t>THE DARK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imson-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805394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6459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0"/>
              </a:spcAft>
              <a:defRPr sz="2100" b="1">
                <a:solidFill>
                  <a:srgbClr val="F5F0EB"/>
                </a:solidFill>
                <a:latin typeface="Arial"/>
              </a:defRPr>
            </a:pPr>
            <a:r>
              <a:t>◆ 妻を「息子の成長を阻害する存在」</a:t>
            </a:r>
          </a:p>
          <a:p>
            <a:pPr algn="l">
              <a:spcAft>
                <a:spcPts val="210"/>
              </a:spcAft>
              <a:defRPr sz="2100" b="1">
                <a:solidFill>
                  <a:srgbClr val="F5F0EB"/>
                </a:solidFill>
                <a:latin typeface="Arial"/>
              </a:defRPr>
            </a:pPr>
            <a:r>
              <a:t>　 として排除した</a:t>
            </a:r>
          </a:p>
          <a:p>
            <a:pPr algn="l">
              <a:spcAft>
                <a:spcPts val="210"/>
              </a:spcAft>
              <a:defRPr sz="2100" b="1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210"/>
              </a:spcAft>
              <a:defRPr sz="2100" b="1">
                <a:solidFill>
                  <a:srgbClr val="F5F0EB"/>
                </a:solidFill>
                <a:latin typeface="Arial"/>
              </a:defRPr>
            </a:pPr>
            <a:r>
              <a:t>◆ モクシーへの身体的・精神的虐待</a:t>
            </a:r>
          </a:p>
          <a:p>
            <a:pPr algn="l">
              <a:spcAft>
                <a:spcPts val="210"/>
              </a:spcAft>
              <a:defRPr sz="2100" b="1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210"/>
              </a:spcAft>
              <a:defRPr sz="2100" b="1">
                <a:solidFill>
                  <a:srgbClr val="F5F0EB"/>
                </a:solidFill>
                <a:latin typeface="Arial"/>
              </a:defRPr>
            </a:pPr>
            <a:r>
              <a:t>◆ 組織のためなら息子すら</a:t>
            </a:r>
          </a:p>
          <a:p>
            <a:pPr algn="l">
              <a:spcAft>
                <a:spcPts val="210"/>
              </a:spcAft>
              <a:defRPr sz="2100" b="1">
                <a:solidFill>
                  <a:srgbClr val="F5F0EB"/>
                </a:solidFill>
                <a:latin typeface="Arial"/>
              </a:defRPr>
            </a:pPr>
            <a:r>
              <a:t>　 駒として使う冷徹さ</a:t>
            </a:r>
          </a:p>
          <a:p>
            <a:pPr algn="l">
              <a:spcAft>
                <a:spcPts val="210"/>
              </a:spcAft>
              <a:defRPr sz="2100" b="1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210"/>
              </a:spcAft>
              <a:defRPr sz="2100" b="1">
                <a:solidFill>
                  <a:srgbClr val="F5F0EB"/>
                </a:solidFill>
                <a:latin typeface="Arial"/>
              </a:defRPr>
            </a:pPr>
            <a:r>
              <a:t>◆ フィズロリを人質にし、</a:t>
            </a:r>
          </a:p>
          <a:p>
            <a:pPr algn="l">
              <a:spcAft>
                <a:spcPts val="210"/>
              </a:spcAft>
              <a:defRPr sz="2100" b="1">
                <a:solidFill>
                  <a:srgbClr val="F5F0EB"/>
                </a:solidFill>
                <a:latin typeface="Arial"/>
              </a:defRPr>
            </a:pPr>
            <a:r>
              <a:t>　 七つの大罪の一柱アスモデウス</a:t>
            </a:r>
          </a:p>
          <a:p>
            <a:pPr algn="l">
              <a:spcAft>
                <a:spcPts val="210"/>
              </a:spcAft>
              <a:defRPr sz="2100" b="1">
                <a:solidFill>
                  <a:srgbClr val="F5F0EB"/>
                </a:solidFill>
                <a:latin typeface="Arial"/>
              </a:defRPr>
            </a:pPr>
            <a:r>
              <a:t>　 すら脅迫する豪胆さ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4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F0EB"/>
                </a:solidFill>
                <a:latin typeface="Arial"/>
              </a:defRPr>
            </a:pPr>
            <a:r>
              <a:t>登場エピソード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imson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4114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16459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  <a:latin typeface="Arial"/>
              </a:defRPr>
            </a:pPr>
            <a:r>
              <a:t>Exes and Oohs（S2E6）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B9B4"/>
                </a:solidFill>
                <a:latin typeface="Arial"/>
              </a:defRPr>
            </a:pPr>
            <a:r>
              <a:t>初登場。モクシーをチャズと政略結婚させようと画策する。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2004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  <a:latin typeface="Arial"/>
              </a:defRPr>
            </a:pPr>
            <a:r>
              <a:t>Oops（S2E7）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749039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B9B4"/>
                </a:solidFill>
                <a:latin typeface="Arial"/>
              </a:defRPr>
            </a:pPr>
            <a:r>
              <a:t>ストライカーを雇い、フィズロリを人質にして</a:t>
            </a:r>
            <a:br/>
            <a:r>
              <a:t>アスモデウスを脅迫する。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75488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  <a:latin typeface="Arial"/>
              </a:defRPr>
            </a:pPr>
            <a:r>
              <a:t>Mammon's Magnificent Musical</a:t>
            </a:r>
            <a:br/>
            <a:r>
              <a:t>Mid-Season Special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30352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B9B4"/>
                </a:solidFill>
                <a:latin typeface="Arial"/>
              </a:defRPr>
            </a:pPr>
            <a:r>
              <a:t>音楽スペシャルでの登場。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C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imson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899355" cy="5486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0" y="0"/>
            <a:ext cx="4572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0" y="4572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EB9B4"/>
                </a:solidFill>
                <a:latin typeface="Arial"/>
              </a:defRPr>
            </a:pPr>
            <a:r>
              <a:t>WHY 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91440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B41E1E"/>
                </a:solidFill>
                <a:latin typeface="Arial"/>
              </a:defRPr>
            </a:pPr>
            <a:r>
              <a:t>LOVE HIM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737360"/>
            <a:ext cx="5029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21031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壊れきった魂の持ち主が持つ渋さと苦さ</a:t>
            </a:r>
          </a:p>
          <a:p>
            <a:pPr algn="l">
              <a:spcAft>
                <a:spcPts val="200"/>
              </a:spcAft>
              <a:defRPr sz="2000" b="0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インプでありながら威厳を纏う貫禄</a:t>
            </a:r>
          </a:p>
          <a:p>
            <a:pPr algn="l">
              <a:spcAft>
                <a:spcPts val="200"/>
              </a:spcAft>
              <a:defRPr sz="2000" b="0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歪んだ形で愛を表現する不器用さ</a:t>
            </a:r>
          </a:p>
          <a:p>
            <a:pPr algn="l">
              <a:spcAft>
                <a:spcPts val="200"/>
              </a:spcAft>
              <a:defRPr sz="2000" b="0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傷を抱えながらも足掻き続ける強さ</a:t>
            </a:r>
          </a:p>
          <a:p>
            <a:pPr algn="l">
              <a:spcAft>
                <a:spcPts val="200"/>
              </a:spcAft>
              <a:defRPr sz="2000" b="0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演技と話術で成り上がった努力の人</a:t>
            </a:r>
          </a:p>
          <a:p>
            <a:pPr algn="l">
              <a:spcAft>
                <a:spcPts val="200"/>
              </a:spcAft>
              <a:defRPr sz="2000" b="0">
                <a:solidFill>
                  <a:srgbClr val="F5F0EB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「死ぬ技術」ではなく</a:t>
            </a:r>
          </a:p>
          <a:p>
            <a:pPr algn="l">
              <a:spcAft>
                <a:spcPts val="200"/>
              </a:spcAft>
              <a:defRPr sz="2000" b="0">
                <a:solidFill>
                  <a:srgbClr val="F5F0EB"/>
                </a:solidFill>
                <a:latin typeface="Arial"/>
              </a:defRPr>
            </a:pPr>
            <a:r>
              <a:t>「生き延びる技術」を磨いた男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C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imson-fan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5766727" cy="502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12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715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F37"/>
                </a:solidFill>
                <a:latin typeface="Arial"/>
              </a:defRPr>
            </a:pPr>
            <a:r>
              <a:t>このパワーポイントの製作者が描いたファンアートです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B9B4"/>
                </a:solidFill>
                <a:latin typeface="Arial"/>
              </a:defRPr>
            </a:pPr>
            <a:r>
              <a:t>ご覧頂きありがとうございました。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172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8228"/>
                </a:solidFill>
                <a:latin typeface="Arial"/>
              </a:defRPr>
            </a:pPr>
            <a:r>
              <a:t>CRIMSON  —  Helluva Boss  |  Vivziepop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