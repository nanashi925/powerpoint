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jp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jp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jp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jp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jp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0C0C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crimson-1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731520"/>
            <a:ext cx="5420855" cy="530352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5303520" y="457200"/>
            <a:ext cx="45720" cy="5943600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760720" y="1828800"/>
            <a:ext cx="5029200" cy="36576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760720" y="2103120"/>
            <a:ext cx="54864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600" b="1">
                <a:solidFill>
                  <a:srgbClr val="B41E1E"/>
                </a:solidFill>
                <a:latin typeface="Arial"/>
              </a:defRPr>
            </a:pPr>
            <a:r>
              <a:t>CRIMSON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760720" y="3291840"/>
            <a:ext cx="5486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 b="0">
                <a:solidFill>
                  <a:srgbClr val="D4AF37"/>
                </a:solidFill>
                <a:latin typeface="Arial"/>
              </a:defRPr>
            </a:pPr>
            <a:r>
              <a:t>Knolastname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760720" y="4023360"/>
            <a:ext cx="5486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0">
                <a:solidFill>
                  <a:srgbClr val="BEB9B4"/>
                </a:solidFill>
                <a:latin typeface="Arial"/>
              </a:defRPr>
            </a:pPr>
            <a:r>
              <a:t>Greed Ring's Most Feared Mafia Boss</a:t>
            </a:r>
          </a:p>
        </p:txBody>
      </p:sp>
      <p:sp>
        <p:nvSpPr>
          <p:cNvPr id="8" name="Rectangle 7"/>
          <p:cNvSpPr/>
          <p:nvPr/>
        </p:nvSpPr>
        <p:spPr>
          <a:xfrm>
            <a:off x="5760720" y="4846320"/>
            <a:ext cx="5029200" cy="36576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760720" y="5669280"/>
            <a:ext cx="5486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A08228"/>
                </a:solidFill>
                <a:latin typeface="Arial"/>
              </a:defRPr>
            </a:pPr>
            <a:r>
              <a:t>HELLUVA BOSS  |  Character Presentation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0C0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640F0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200" b="1">
                <a:solidFill>
                  <a:srgbClr val="F5F0EB"/>
                </a:solidFill>
                <a:latin typeface="Arial"/>
              </a:defRPr>
            </a:pPr>
            <a:r>
              <a:t>PROFILE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097280"/>
            <a:ext cx="11277295" cy="36576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crimson-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645920"/>
            <a:ext cx="3478913" cy="45720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029200" y="1828800"/>
            <a:ext cx="64008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760"/>
              </a:spcAft>
              <a:defRPr sz="2200" b="0">
                <a:solidFill>
                  <a:srgbClr val="F5F0EB"/>
                </a:solidFill>
                <a:latin typeface="Arial"/>
              </a:defRPr>
            </a:pPr>
            <a:r>
              <a:t>名前 :  Crimson（クリムゾン）</a:t>
            </a:r>
          </a:p>
          <a:p>
            <a:pPr algn="l">
              <a:spcAft>
                <a:spcPts val="1760"/>
              </a:spcAft>
              <a:defRPr sz="2200" b="0">
                <a:solidFill>
                  <a:srgbClr val="F5F0EB"/>
                </a:solidFill>
                <a:latin typeface="Arial"/>
              </a:defRPr>
            </a:pPr>
            <a:r>
              <a:t>種族 :  インプ</a:t>
            </a:r>
          </a:p>
          <a:p>
            <a:pPr algn="l">
              <a:spcAft>
                <a:spcPts val="1760"/>
              </a:spcAft>
              <a:defRPr sz="2200" b="0">
                <a:solidFill>
                  <a:srgbClr val="F5F0EB"/>
                </a:solidFill>
                <a:latin typeface="Arial"/>
              </a:defRPr>
            </a:pPr>
            <a:r>
              <a:t>リング :  強欲の環（Greed Ring）</a:t>
            </a:r>
          </a:p>
          <a:p>
            <a:pPr algn="l">
              <a:spcAft>
                <a:spcPts val="1760"/>
              </a:spcAft>
              <a:defRPr sz="2200" b="0">
                <a:solidFill>
                  <a:srgbClr val="F5F0EB"/>
                </a:solidFill>
                <a:latin typeface="Arial"/>
              </a:defRPr>
            </a:pPr>
            <a:r>
              <a:t>役割 :  マフィアボス / 犯罪王</a:t>
            </a:r>
          </a:p>
          <a:p>
            <a:pPr algn="l">
              <a:spcAft>
                <a:spcPts val="1760"/>
              </a:spcAft>
              <a:defRPr sz="2200" b="0">
                <a:solidFill>
                  <a:srgbClr val="F5F0EB"/>
                </a:solidFill>
                <a:latin typeface="Arial"/>
              </a:defRPr>
            </a:pPr>
            <a:r>
              <a:t>家族 :  モクシー（息子）</a:t>
            </a:r>
          </a:p>
          <a:p>
            <a:pPr algn="l">
              <a:spcAft>
                <a:spcPts val="1760"/>
              </a:spcAft>
              <a:defRPr sz="2200" b="0">
                <a:solidFill>
                  <a:srgbClr val="F5F0EB"/>
                </a:solidFill>
                <a:latin typeface="Arial"/>
              </a:defRPr>
            </a:pPr>
            <a:r>
              <a:t>声優 :  Richard Steven Horvitz</a:t>
            </a:r>
          </a:p>
          <a:p>
            <a:pPr algn="l">
              <a:spcAft>
                <a:spcPts val="1760"/>
              </a:spcAft>
              <a:defRPr sz="2200" b="0">
                <a:solidFill>
                  <a:srgbClr val="F5F0EB"/>
                </a:solidFill>
                <a:latin typeface="Arial"/>
              </a:defRPr>
            </a:pPr>
            <a:r>
              <a:t>初登場 :  "Exes and Oohs"（S2E6）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0" y="5669280"/>
            <a:ext cx="6400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BEB9B4"/>
                </a:solidFill>
                <a:latin typeface="Arial"/>
              </a:defRPr>
            </a:pPr>
            <a:r>
              <a:t>強欲の環を支配するマフィアの頂点に立つインプ。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0F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640F0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200" b="1">
                <a:solidFill>
                  <a:srgbClr val="F5F0EB"/>
                </a:solidFill>
                <a:latin typeface="Arial"/>
              </a:defRPr>
            </a:pPr>
            <a:r>
              <a:t>外見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097280"/>
            <a:ext cx="11277295" cy="36576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crimson-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371600"/>
            <a:ext cx="5852160" cy="50292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943600" y="1645920"/>
            <a:ext cx="57607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60"/>
              </a:spcAft>
              <a:defRPr sz="2100" b="0">
                <a:solidFill>
                  <a:srgbClr val="F5F0EB"/>
                </a:solidFill>
                <a:latin typeface="Arial"/>
              </a:defRPr>
            </a:pPr>
            <a:r>
              <a:t>Blitzoに近い長身のインプ</a:t>
            </a:r>
          </a:p>
          <a:p>
            <a:pPr algn="l">
              <a:spcAft>
                <a:spcPts val="1260"/>
              </a:spcAft>
              <a:defRPr sz="2100" b="0">
                <a:solidFill>
                  <a:srgbClr val="F5F0EB"/>
                </a:solidFill>
                <a:latin typeface="Arial"/>
              </a:defRPr>
            </a:pPr>
            <a:r>
              <a:t>白髪 / 白黒の縞模様の角</a:t>
            </a:r>
          </a:p>
          <a:p>
            <a:pPr algn="l">
              <a:spcAft>
                <a:spcPts val="1260"/>
              </a:spcAft>
              <a:defRPr sz="2100" b="0">
                <a:solidFill>
                  <a:srgbClr val="F5F0EB"/>
                </a:solidFill>
                <a:latin typeface="Arial"/>
              </a:defRPr>
            </a:pPr>
            <a:r>
              <a:t>黄色い強膜に金の牙（右側）</a:t>
            </a:r>
          </a:p>
          <a:p>
            <a:pPr algn="l">
              <a:spcAft>
                <a:spcPts val="1260"/>
              </a:spcAft>
              <a:defRPr sz="2100" b="0">
                <a:solidFill>
                  <a:srgbClr val="F5F0EB"/>
                </a:solidFill>
                <a:latin typeface="Arial"/>
              </a:defRPr>
            </a:pPr>
            <a:r>
              <a:t>ダークレッドの肌</a:t>
            </a:r>
          </a:p>
          <a:p>
            <a:pPr algn="l">
              <a:spcAft>
                <a:spcPts val="1260"/>
              </a:spcAft>
              <a:defRPr sz="2100" b="0">
                <a:solidFill>
                  <a:srgbClr val="F5F0EB"/>
                </a:solidFill>
                <a:latin typeface="Arial"/>
              </a:defRPr>
            </a:pPr>
            <a:r>
              <a:t>黒いフェドーラ帽（赤白バンド付き）</a:t>
            </a:r>
          </a:p>
          <a:p>
            <a:pPr algn="l">
              <a:spcAft>
                <a:spcPts val="1260"/>
              </a:spcAft>
              <a:defRPr sz="2100" b="0">
                <a:solidFill>
                  <a:srgbClr val="F5F0EB"/>
                </a:solidFill>
                <a:latin typeface="Arial"/>
              </a:defRPr>
            </a:pPr>
            <a:r>
              <a:t>ネイビーブルーのコートに赤いシャツ</a:t>
            </a:r>
          </a:p>
          <a:p>
            <a:pPr algn="l">
              <a:spcAft>
                <a:spcPts val="1260"/>
              </a:spcAft>
              <a:defRPr sz="2100" b="0">
                <a:solidFill>
                  <a:srgbClr val="F5F0EB"/>
                </a:solidFill>
                <a:latin typeface="Arial"/>
              </a:defRPr>
            </a:pPr>
            <a:r>
              <a:t>蹠行性（かかとを地面につける）の脚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606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_dark_crimson7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12191695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457200" y="36576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800" b="1">
                <a:solidFill>
                  <a:srgbClr val="B41E1E"/>
                </a:solidFill>
                <a:latin typeface="Arial"/>
              </a:defRPr>
            </a:pPr>
            <a:r>
              <a:t>性格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188720"/>
            <a:ext cx="4572000" cy="36576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645920"/>
            <a:ext cx="68580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  <a:defRPr sz="2400" b="1">
                <a:solidFill>
                  <a:srgbClr val="F5F0EB"/>
                </a:solidFill>
                <a:latin typeface="Arial"/>
              </a:defRPr>
            </a:pPr>
            <a:r>
              <a:t>◆ 残忍かつ冷酷なマフィアのボス</a:t>
            </a:r>
          </a:p>
          <a:p>
            <a:pPr algn="l">
              <a:spcAft>
                <a:spcPts val="1200"/>
              </a:spcAft>
              <a:defRPr sz="2400" b="1">
                <a:solidFill>
                  <a:srgbClr val="F5F0EB"/>
                </a:solidFill>
                <a:latin typeface="Arial"/>
              </a:defRPr>
            </a:pPr>
            <a:r>
              <a:t>◆ 絶対的な恐怖で組織を支配する</a:t>
            </a:r>
          </a:p>
          <a:p>
            <a:pPr algn="l">
              <a:spcAft>
                <a:spcPts val="1200"/>
              </a:spcAft>
              <a:defRPr sz="2400" b="1">
                <a:solidFill>
                  <a:srgbClr val="F5F0EB"/>
                </a:solidFill>
                <a:latin typeface="Arial"/>
              </a:defRPr>
            </a:pPr>
            <a:r>
              <a:t>◆ しかし必要な時には魅力的で温厚な顔も見せる</a:t>
            </a:r>
          </a:p>
          <a:p>
            <a:pPr algn="l">
              <a:spcAft>
                <a:spcPts val="1200"/>
              </a:spcAft>
              <a:defRPr sz="2400" b="1">
                <a:solidFill>
                  <a:srgbClr val="F5F0EB"/>
                </a:solidFill>
                <a:latin typeface="Arial"/>
              </a:defRPr>
            </a:pPr>
            <a:r>
              <a:t>◆ サメ悪魔のギャング軍団を統率</a:t>
            </a:r>
          </a:p>
          <a:p>
            <a:pPr algn="l">
              <a:spcAft>
                <a:spcPts val="1200"/>
              </a:spcAft>
              <a:defRPr sz="2400" b="1">
                <a:solidFill>
                  <a:srgbClr val="F5F0EB"/>
                </a:solidFill>
                <a:latin typeface="Arial"/>
              </a:defRPr>
            </a:pPr>
            <a:r>
              <a:t>◆ 脅迫・暴力・心理操作を駆使する策略家</a:t>
            </a:r>
          </a:p>
          <a:p>
            <a:pPr algn="l">
              <a:spcAft>
                <a:spcPts val="1200"/>
              </a:spcAft>
              <a:defRPr sz="2400" b="1">
                <a:solidFill>
                  <a:srgbClr val="F5F0EB"/>
                </a:solidFill>
                <a:latin typeface="Arial"/>
              </a:defRPr>
            </a:pPr>
            <a:r>
              <a:t>◆ 冷酷と魅力のギャップに満ちた男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0C0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943600" cy="6858000"/>
          </a:xfrm>
          <a:prstGeom prst="rect">
            <a:avLst/>
          </a:prstGeom>
          <a:solidFill>
            <a:srgbClr val="120C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852160" y="0"/>
            <a:ext cx="54864" cy="6858000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crimson-6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17920" y="274320"/>
            <a:ext cx="7420598" cy="630936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57200" y="365760"/>
            <a:ext cx="50292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5200" b="1">
                <a:solidFill>
                  <a:srgbClr val="D4AF37"/>
                </a:solidFill>
                <a:latin typeface="Arial"/>
              </a:defRPr>
            </a:pPr>
            <a:r>
              <a:t>THE DON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188720"/>
            <a:ext cx="4572000" cy="36576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1645920"/>
            <a:ext cx="475488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99"/>
              </a:spcAft>
              <a:defRPr sz="2000" b="0">
                <a:solidFill>
                  <a:srgbClr val="F5F0EB"/>
                </a:solidFill>
                <a:latin typeface="Arial"/>
              </a:defRPr>
            </a:pPr>
            <a:r>
              <a:t>強欲の環を牛耳る犯罪帝国の長。</a:t>
            </a:r>
          </a:p>
          <a:p>
            <a:pPr algn="l">
              <a:spcAft>
                <a:spcPts val="299"/>
              </a:spcAft>
              <a:defRPr sz="2000" b="0">
                <a:solidFill>
                  <a:srgbClr val="F5F0EB"/>
                </a:solidFill>
                <a:latin typeface="Arial"/>
              </a:defRPr>
            </a:pPr>
          </a:p>
          <a:p>
            <a:pPr algn="l">
              <a:spcAft>
                <a:spcPts val="299"/>
              </a:spcAft>
              <a:defRPr sz="2000" b="0">
                <a:solidFill>
                  <a:srgbClr val="F5F0EB"/>
                </a:solidFill>
                <a:latin typeface="Arial"/>
              </a:defRPr>
            </a:pPr>
            <a:r>
              <a:t>サメ悪魔の大軍を従え、</a:t>
            </a:r>
          </a:p>
          <a:p>
            <a:pPr algn="l">
              <a:spcAft>
                <a:spcPts val="299"/>
              </a:spcAft>
              <a:defRPr sz="2000" b="0">
                <a:solidFill>
                  <a:srgbClr val="F5F0EB"/>
                </a:solidFill>
                <a:latin typeface="Arial"/>
              </a:defRPr>
            </a:pPr>
            <a:r>
              <a:t>恐喝と暴力で勢力を拡大する。</a:t>
            </a:r>
          </a:p>
          <a:p>
            <a:pPr algn="l">
              <a:spcAft>
                <a:spcPts val="299"/>
              </a:spcAft>
              <a:defRPr sz="2000" b="0">
                <a:solidFill>
                  <a:srgbClr val="F5F0EB"/>
                </a:solidFill>
                <a:latin typeface="Arial"/>
              </a:defRPr>
            </a:pPr>
          </a:p>
          <a:p>
            <a:pPr algn="l">
              <a:spcAft>
                <a:spcPts val="299"/>
              </a:spcAft>
              <a:defRPr sz="2000" b="0">
                <a:solidFill>
                  <a:srgbClr val="F5F0EB"/>
                </a:solidFill>
                <a:latin typeface="Arial"/>
              </a:defRPr>
            </a:pPr>
            <a:r>
              <a:t>財政危機に際しては</a:t>
            </a:r>
          </a:p>
          <a:p>
            <a:pPr algn="l">
              <a:spcAft>
                <a:spcPts val="299"/>
              </a:spcAft>
              <a:defRPr sz="2000" b="0">
                <a:solidFill>
                  <a:srgbClr val="F5F0EB"/>
                </a:solidFill>
                <a:latin typeface="Arial"/>
              </a:defRPr>
            </a:pPr>
            <a:r>
              <a:t>チャズとの政略結婚すら画策する野心家。</a:t>
            </a:r>
          </a:p>
          <a:p>
            <a:pPr algn="l">
              <a:spcAft>
                <a:spcPts val="299"/>
              </a:spcAft>
              <a:defRPr sz="2000" b="0">
                <a:solidFill>
                  <a:srgbClr val="F5F0EB"/>
                </a:solidFill>
                <a:latin typeface="Arial"/>
              </a:defRPr>
            </a:pPr>
          </a:p>
          <a:p>
            <a:pPr algn="l">
              <a:spcAft>
                <a:spcPts val="299"/>
              </a:spcAft>
              <a:defRPr sz="2000" b="0">
                <a:solidFill>
                  <a:srgbClr val="F5F0EB"/>
                </a:solidFill>
                <a:latin typeface="Arial"/>
              </a:defRPr>
            </a:pPr>
            <a:r>
              <a:t>ストライカーを雇い、</a:t>
            </a:r>
          </a:p>
          <a:p>
            <a:pPr algn="l">
              <a:spcAft>
                <a:spcPts val="299"/>
              </a:spcAft>
              <a:defRPr sz="2000" b="0">
                <a:solidFill>
                  <a:srgbClr val="F5F0EB"/>
                </a:solidFill>
                <a:latin typeface="Arial"/>
              </a:defRPr>
            </a:pPr>
            <a:r>
              <a:t>フィズロリを人質にアスモデウス</a:t>
            </a:r>
          </a:p>
          <a:p>
            <a:pPr algn="l">
              <a:spcAft>
                <a:spcPts val="299"/>
              </a:spcAft>
              <a:defRPr sz="2000" b="0">
                <a:solidFill>
                  <a:srgbClr val="F5F0EB"/>
                </a:solidFill>
                <a:latin typeface="Arial"/>
              </a:defRPr>
            </a:pPr>
            <a:r>
              <a:t>すら脅迫する大胆さ。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0C0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640F0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200" b="1">
                <a:solidFill>
                  <a:srgbClr val="F5F0EB"/>
                </a:solidFill>
                <a:latin typeface="Arial"/>
              </a:defRPr>
            </a:pPr>
            <a:r>
              <a:t>能力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097280"/>
            <a:ext cx="11277295" cy="36576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crimson-8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0" y="1371600"/>
            <a:ext cx="4846320" cy="2724693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31520" y="1463040"/>
            <a:ext cx="5486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D4AF37"/>
                </a:solidFill>
                <a:latin typeface="Arial"/>
              </a:defRPr>
            </a:pPr>
            <a:r>
              <a:t>統率力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874520"/>
            <a:ext cx="5486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0">
                <a:solidFill>
                  <a:srgbClr val="BEB9B4"/>
                </a:solidFill>
                <a:latin typeface="Arial"/>
              </a:defRPr>
            </a:pPr>
            <a:r>
              <a:t>絶対的なカリスマで巨大組織を率いる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2697480"/>
            <a:ext cx="5486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D4AF37"/>
                </a:solidFill>
                <a:latin typeface="Arial"/>
              </a:defRPr>
            </a:pPr>
            <a:r>
              <a:t>心理操作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3108960"/>
            <a:ext cx="5486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0">
                <a:solidFill>
                  <a:srgbClr val="BEB9B4"/>
                </a:solidFill>
                <a:latin typeface="Arial"/>
              </a:defRPr>
            </a:pPr>
            <a:r>
              <a:t>長年にわたりモクシーの精神を支配し、</a:t>
            </a:r>
            <a:br/>
            <a:r>
              <a:t>脅迫と心理戦で周囲を操る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3931920"/>
            <a:ext cx="5486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D4AF37"/>
                </a:solidFill>
                <a:latin typeface="Arial"/>
              </a:defRPr>
            </a:pPr>
            <a:r>
              <a:t>武器の扱い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4343400"/>
            <a:ext cx="5486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0">
                <a:solidFill>
                  <a:srgbClr val="BEB9B4"/>
                </a:solidFill>
                <a:latin typeface="Arial"/>
              </a:defRPr>
            </a:pPr>
            <a:r>
              <a:t>ナイフの投擲に秀でた腕前を持つ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5166360"/>
            <a:ext cx="5486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D4AF37"/>
                </a:solidFill>
                <a:latin typeface="Arial"/>
              </a:defRPr>
            </a:pPr>
            <a:r>
              <a:t>演技力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5577840"/>
            <a:ext cx="5486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0">
                <a:solidFill>
                  <a:srgbClr val="BEB9B4"/>
                </a:solidFill>
                <a:latin typeface="Arial"/>
              </a:defRPr>
            </a:pPr>
            <a:r>
              <a:t>温厚な紳士から冷酷な暴君まで、</a:t>
            </a:r>
            <a:br/>
            <a:r>
              <a:t>自在に顔を使い分ける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120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640F0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200" b="1">
                <a:solidFill>
                  <a:srgbClr val="F5F0EB"/>
                </a:solidFill>
                <a:latin typeface="Arial"/>
              </a:defRPr>
            </a:pPr>
            <a:r>
              <a:t>クリムゾンとモクシー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097280"/>
            <a:ext cx="11277295" cy="36576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crimson-lov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463040"/>
            <a:ext cx="5160630" cy="475488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669280" y="1645920"/>
            <a:ext cx="5943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39"/>
              </a:spcAft>
              <a:defRPr sz="2200" b="0">
                <a:solidFill>
                  <a:srgbClr val="F5F0EB"/>
                </a:solidFill>
                <a:latin typeface="Arial"/>
              </a:defRPr>
            </a:pPr>
            <a:r>
              <a:t>マフィアのボスの息子として、</a:t>
            </a:r>
          </a:p>
          <a:p>
            <a:pPr algn="l">
              <a:spcAft>
                <a:spcPts val="439"/>
              </a:spcAft>
              <a:defRPr sz="2200" b="0">
                <a:solidFill>
                  <a:srgbClr val="F5F0EB"/>
                </a:solidFill>
                <a:latin typeface="Arial"/>
              </a:defRPr>
            </a:pPr>
            <a:r>
              <a:t>茨の道を歩ませなければならなかった。</a:t>
            </a:r>
          </a:p>
          <a:p>
            <a:pPr algn="l">
              <a:spcAft>
                <a:spcPts val="439"/>
              </a:spcAft>
              <a:defRPr sz="2200" b="0">
                <a:solidFill>
                  <a:srgbClr val="F5F0EB"/>
                </a:solidFill>
                <a:latin typeface="Arial"/>
              </a:defRPr>
            </a:pPr>
          </a:p>
          <a:p>
            <a:pPr algn="l">
              <a:spcAft>
                <a:spcPts val="439"/>
              </a:spcAft>
              <a:defRPr sz="2200" b="0">
                <a:solidFill>
                  <a:srgbClr val="F5F0EB"/>
                </a:solidFill>
                <a:latin typeface="Arial"/>
              </a:defRPr>
            </a:pPr>
            <a:r>
              <a:t>「殺らなきゃ殺られる」世界で</a:t>
            </a:r>
          </a:p>
          <a:p>
            <a:pPr algn="l">
              <a:spcAft>
                <a:spcPts val="439"/>
              </a:spcAft>
              <a:defRPr sz="2200" b="0">
                <a:solidFill>
                  <a:srgbClr val="F5F0EB"/>
                </a:solidFill>
                <a:latin typeface="Arial"/>
              </a:defRPr>
            </a:pPr>
            <a:r>
              <a:t>息子が生き残れるよう厳しく育てた。</a:t>
            </a:r>
          </a:p>
          <a:p>
            <a:pPr algn="l">
              <a:spcAft>
                <a:spcPts val="439"/>
              </a:spcAft>
              <a:defRPr sz="2200" b="0">
                <a:solidFill>
                  <a:srgbClr val="F5F0EB"/>
                </a:solidFill>
                <a:latin typeface="Arial"/>
              </a:defRPr>
            </a:pPr>
          </a:p>
          <a:p>
            <a:pPr algn="l">
              <a:spcAft>
                <a:spcPts val="439"/>
              </a:spcAft>
              <a:defRPr sz="2200" b="0">
                <a:solidFill>
                  <a:srgbClr val="F5F0EB"/>
                </a:solidFill>
                <a:latin typeface="Arial"/>
              </a:defRPr>
            </a:pPr>
            <a:r>
              <a:t>家を出て結婚した息子を、</a:t>
            </a:r>
          </a:p>
          <a:p>
            <a:pPr algn="l">
              <a:spcAft>
                <a:spcPts val="439"/>
              </a:spcAft>
              <a:defRPr sz="2200" b="0">
                <a:solidFill>
                  <a:srgbClr val="F5F0EB"/>
                </a:solidFill>
                <a:latin typeface="Arial"/>
              </a:defRPr>
            </a:pPr>
            <a:r>
              <a:t>すぐに追わず静かに見守っていた。</a:t>
            </a:r>
          </a:p>
          <a:p>
            <a:pPr algn="l">
              <a:spcAft>
                <a:spcPts val="439"/>
              </a:spcAft>
              <a:defRPr sz="2200" b="0">
                <a:solidFill>
                  <a:srgbClr val="F5F0EB"/>
                </a:solidFill>
                <a:latin typeface="Arial"/>
              </a:defRPr>
            </a:pPr>
          </a:p>
          <a:p>
            <a:pPr algn="l">
              <a:spcAft>
                <a:spcPts val="439"/>
              </a:spcAft>
              <a:defRPr sz="2200" b="0">
                <a:solidFill>
                  <a:srgbClr val="F5F0EB"/>
                </a:solidFill>
                <a:latin typeface="Arial"/>
              </a:defRPr>
            </a:pPr>
            <a:r>
              <a:t>―― 不器用すぎる、歪んだ父の愛。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0505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_dark_crimson9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7141271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457200" y="27432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800" b="1">
                <a:solidFill>
                  <a:srgbClr val="B41E1E"/>
                </a:solidFill>
                <a:latin typeface="Arial"/>
              </a:defRPr>
            </a:pPr>
            <a:r>
              <a:t>THE DARK SIDE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097280"/>
            <a:ext cx="4572000" cy="36576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463040"/>
            <a:ext cx="73152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39"/>
              </a:spcAft>
              <a:defRPr sz="2200" b="1">
                <a:solidFill>
                  <a:srgbClr val="F5F0EB"/>
                </a:solidFill>
                <a:latin typeface="Arial"/>
              </a:defRPr>
            </a:pPr>
            <a:r>
              <a:t>◆ 妻を「息子の成長を阻害する存在」として排除した</a:t>
            </a:r>
          </a:p>
          <a:p>
            <a:pPr algn="l">
              <a:spcAft>
                <a:spcPts val="439"/>
              </a:spcAft>
              <a:defRPr sz="2200" b="1">
                <a:solidFill>
                  <a:srgbClr val="F5F0EB"/>
                </a:solidFill>
                <a:latin typeface="Arial"/>
              </a:defRPr>
            </a:pPr>
          </a:p>
          <a:p>
            <a:pPr algn="l">
              <a:spcAft>
                <a:spcPts val="439"/>
              </a:spcAft>
              <a:defRPr sz="2200" b="1">
                <a:solidFill>
                  <a:srgbClr val="F5F0EB"/>
                </a:solidFill>
                <a:latin typeface="Arial"/>
              </a:defRPr>
            </a:pPr>
            <a:r>
              <a:t>◆ モクシーへの身体的・精神的虐待</a:t>
            </a:r>
          </a:p>
          <a:p>
            <a:pPr algn="l">
              <a:spcAft>
                <a:spcPts val="439"/>
              </a:spcAft>
              <a:defRPr sz="2200" b="1">
                <a:solidFill>
                  <a:srgbClr val="F5F0EB"/>
                </a:solidFill>
                <a:latin typeface="Arial"/>
              </a:defRPr>
            </a:pPr>
          </a:p>
          <a:p>
            <a:pPr algn="l">
              <a:spcAft>
                <a:spcPts val="439"/>
              </a:spcAft>
              <a:defRPr sz="2200" b="1">
                <a:solidFill>
                  <a:srgbClr val="F5F0EB"/>
                </a:solidFill>
                <a:latin typeface="Arial"/>
              </a:defRPr>
            </a:pPr>
            <a:r>
              <a:t>◆ 組織のためなら息子すら駒として使う冷徹さ</a:t>
            </a:r>
          </a:p>
          <a:p>
            <a:pPr algn="l">
              <a:spcAft>
                <a:spcPts val="439"/>
              </a:spcAft>
              <a:defRPr sz="2200" b="1">
                <a:solidFill>
                  <a:srgbClr val="F5F0EB"/>
                </a:solidFill>
                <a:latin typeface="Arial"/>
              </a:defRPr>
            </a:pPr>
          </a:p>
          <a:p>
            <a:pPr algn="l">
              <a:spcAft>
                <a:spcPts val="439"/>
              </a:spcAft>
              <a:defRPr sz="2200" b="1">
                <a:solidFill>
                  <a:srgbClr val="F5F0EB"/>
                </a:solidFill>
                <a:latin typeface="Arial"/>
              </a:defRPr>
            </a:pPr>
            <a:r>
              <a:t>◆ フィズロリを人質にし、</a:t>
            </a:r>
          </a:p>
          <a:p>
            <a:pPr algn="l">
              <a:spcAft>
                <a:spcPts val="439"/>
              </a:spcAft>
              <a:defRPr sz="2200" b="1">
                <a:solidFill>
                  <a:srgbClr val="F5F0EB"/>
                </a:solidFill>
                <a:latin typeface="Arial"/>
              </a:defRPr>
            </a:pPr>
            <a:r>
              <a:t>　 七つの大罪の一柱アスモデウスすら脅迫する豪胆さ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0C0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640F0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200" b="1">
                <a:solidFill>
                  <a:srgbClr val="F5F0EB"/>
                </a:solidFill>
                <a:latin typeface="Arial"/>
              </a:defRPr>
            </a:pPr>
            <a:r>
              <a:t>登場エピソード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097280"/>
            <a:ext cx="11277295" cy="36576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crimson-5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828800"/>
            <a:ext cx="4114800" cy="41148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029200" y="1645920"/>
            <a:ext cx="6675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D4AF37"/>
                </a:solidFill>
                <a:latin typeface="Arial"/>
              </a:defRPr>
            </a:pPr>
            <a:r>
              <a:t>Exes and Oohs（S2E6）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0" y="2194560"/>
            <a:ext cx="66751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0">
                <a:solidFill>
                  <a:srgbClr val="BEB9B4"/>
                </a:solidFill>
                <a:latin typeface="Arial"/>
              </a:defRPr>
            </a:pPr>
            <a:r>
              <a:t>初登場。モクシーをチャズと政略結婚させようと画策する。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0" y="3200400"/>
            <a:ext cx="6675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D4AF37"/>
                </a:solidFill>
                <a:latin typeface="Arial"/>
              </a:defRPr>
            </a:pPr>
            <a:r>
              <a:t>Oops（S2E7）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0" y="3749039"/>
            <a:ext cx="66751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0">
                <a:solidFill>
                  <a:srgbClr val="BEB9B4"/>
                </a:solidFill>
                <a:latin typeface="Arial"/>
              </a:defRPr>
            </a:pPr>
            <a:r>
              <a:t>ストライカーを雇い、フィズロリを人質にして</a:t>
            </a:r>
            <a:br/>
            <a:r>
              <a:t>アスモデウスを脅迫する。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0" y="4754880"/>
            <a:ext cx="6675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D4AF37"/>
                </a:solidFill>
                <a:latin typeface="Arial"/>
              </a:defRPr>
            </a:pPr>
            <a:r>
              <a:t>Mammon's Magnificent Musical</a:t>
            </a:r>
            <a:br/>
            <a:r>
              <a:t>Mid-Season Special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0" y="5303520"/>
            <a:ext cx="66751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0">
                <a:solidFill>
                  <a:srgbClr val="BEB9B4"/>
                </a:solidFill>
                <a:latin typeface="Arial"/>
              </a:defRPr>
            </a:pPr>
            <a:r>
              <a:t>音楽スペシャルでの登場。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0C12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crimson-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914400"/>
            <a:ext cx="5899355" cy="54864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4389120" y="0"/>
            <a:ext cx="45720" cy="6858000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846320" y="457200"/>
            <a:ext cx="6858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0">
                <a:solidFill>
                  <a:srgbClr val="BEB9B4"/>
                </a:solidFill>
                <a:latin typeface="Arial"/>
              </a:defRPr>
            </a:pPr>
            <a:r>
              <a:t>WHY WE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846320" y="914400"/>
            <a:ext cx="6858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5200" b="1">
                <a:solidFill>
                  <a:srgbClr val="B41E1E"/>
                </a:solidFill>
                <a:latin typeface="Arial"/>
              </a:defRPr>
            </a:pPr>
            <a:r>
              <a:t>LOVE HIM</a:t>
            </a:r>
          </a:p>
        </p:txBody>
      </p:sp>
      <p:sp>
        <p:nvSpPr>
          <p:cNvPr id="6" name="Rectangle 5"/>
          <p:cNvSpPr/>
          <p:nvPr/>
        </p:nvSpPr>
        <p:spPr>
          <a:xfrm>
            <a:off x="4846320" y="1737360"/>
            <a:ext cx="5029200" cy="36576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0" y="2103120"/>
            <a:ext cx="59436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  <a:defRPr sz="2000" b="0">
                <a:solidFill>
                  <a:srgbClr val="F5F0EB"/>
                </a:solidFill>
                <a:latin typeface="Arial"/>
              </a:defRPr>
            </a:pPr>
            <a:r>
              <a:t>壊れきった魂の持ち主が持つ渋さと苦さ</a:t>
            </a:r>
          </a:p>
          <a:p>
            <a:pPr algn="l">
              <a:spcAft>
                <a:spcPts val="200"/>
              </a:spcAft>
              <a:defRPr sz="2000" b="0">
                <a:solidFill>
                  <a:srgbClr val="F5F0EB"/>
                </a:solidFill>
                <a:latin typeface="Arial"/>
              </a:defRPr>
            </a:pPr>
          </a:p>
          <a:p>
            <a:pPr algn="l">
              <a:spcAft>
                <a:spcPts val="200"/>
              </a:spcAft>
              <a:defRPr sz="2000" b="0">
                <a:solidFill>
                  <a:srgbClr val="F5F0EB"/>
                </a:solidFill>
                <a:latin typeface="Arial"/>
              </a:defRPr>
            </a:pPr>
            <a:r>
              <a:t>インプでありながら威厳を纏う貫禄</a:t>
            </a:r>
          </a:p>
          <a:p>
            <a:pPr algn="l">
              <a:spcAft>
                <a:spcPts val="200"/>
              </a:spcAft>
              <a:defRPr sz="2000" b="0">
                <a:solidFill>
                  <a:srgbClr val="F5F0EB"/>
                </a:solidFill>
                <a:latin typeface="Arial"/>
              </a:defRPr>
            </a:pPr>
          </a:p>
          <a:p>
            <a:pPr algn="l">
              <a:spcAft>
                <a:spcPts val="200"/>
              </a:spcAft>
              <a:defRPr sz="2000" b="0">
                <a:solidFill>
                  <a:srgbClr val="F5F0EB"/>
                </a:solidFill>
                <a:latin typeface="Arial"/>
              </a:defRPr>
            </a:pPr>
            <a:r>
              <a:t>歪んだ形で愛を表現する不器用さ</a:t>
            </a:r>
          </a:p>
          <a:p>
            <a:pPr algn="l">
              <a:spcAft>
                <a:spcPts val="200"/>
              </a:spcAft>
              <a:defRPr sz="2000" b="0">
                <a:solidFill>
                  <a:srgbClr val="F5F0EB"/>
                </a:solidFill>
                <a:latin typeface="Arial"/>
              </a:defRPr>
            </a:pPr>
          </a:p>
          <a:p>
            <a:pPr algn="l">
              <a:spcAft>
                <a:spcPts val="200"/>
              </a:spcAft>
              <a:defRPr sz="2000" b="0">
                <a:solidFill>
                  <a:srgbClr val="F5F0EB"/>
                </a:solidFill>
                <a:latin typeface="Arial"/>
              </a:defRPr>
            </a:pPr>
            <a:r>
              <a:t>傷を抱えながらも足掻き続ける強さ</a:t>
            </a:r>
          </a:p>
          <a:p>
            <a:pPr algn="l">
              <a:spcAft>
                <a:spcPts val="200"/>
              </a:spcAft>
              <a:defRPr sz="2000" b="0">
                <a:solidFill>
                  <a:srgbClr val="F5F0EB"/>
                </a:solidFill>
                <a:latin typeface="Arial"/>
              </a:defRPr>
            </a:pPr>
          </a:p>
          <a:p>
            <a:pPr algn="l">
              <a:spcAft>
                <a:spcPts val="200"/>
              </a:spcAft>
              <a:defRPr sz="2000" b="0">
                <a:solidFill>
                  <a:srgbClr val="F5F0EB"/>
                </a:solidFill>
                <a:latin typeface="Arial"/>
              </a:defRPr>
            </a:pPr>
            <a:r>
              <a:t>演技と話術で成り上がった努力の人</a:t>
            </a:r>
          </a:p>
          <a:p>
            <a:pPr algn="l">
              <a:spcAft>
                <a:spcPts val="200"/>
              </a:spcAft>
              <a:defRPr sz="2000" b="0">
                <a:solidFill>
                  <a:srgbClr val="F5F0EB"/>
                </a:solidFill>
                <a:latin typeface="Arial"/>
              </a:defRPr>
            </a:pPr>
          </a:p>
          <a:p>
            <a:pPr algn="l">
              <a:spcAft>
                <a:spcPts val="200"/>
              </a:spcAft>
              <a:defRPr sz="2000" b="0">
                <a:solidFill>
                  <a:srgbClr val="F5F0EB"/>
                </a:solidFill>
                <a:latin typeface="Arial"/>
              </a:defRPr>
            </a:pPr>
            <a:r>
              <a:t>「死ぬ技術」ではなく</a:t>
            </a:r>
          </a:p>
          <a:p>
            <a:pPr algn="l">
              <a:spcAft>
                <a:spcPts val="200"/>
              </a:spcAft>
              <a:defRPr sz="2000" b="0">
                <a:solidFill>
                  <a:srgbClr val="F5F0EB"/>
                </a:solidFill>
                <a:latin typeface="Arial"/>
              </a:defRPr>
            </a:pPr>
            <a:r>
              <a:t>「生き延びる技術」を磨いた男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0C0C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crimson-fanar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0" y="274320"/>
            <a:ext cx="5766727" cy="50292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5577840"/>
            <a:ext cx="12191695" cy="1280160"/>
          </a:xfrm>
          <a:prstGeom prst="rect">
            <a:avLst/>
          </a:prstGeom>
          <a:solidFill>
            <a:srgbClr val="120C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5577840"/>
            <a:ext cx="12191695" cy="36576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5715000"/>
            <a:ext cx="7315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D4AF37"/>
                </a:solidFill>
                <a:latin typeface="Arial"/>
              </a:defRPr>
            </a:pPr>
            <a:r>
              <a:t>このパワーポイントの製作者が描いたファンアートです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172200"/>
            <a:ext cx="7315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BEB9B4"/>
                </a:solidFill>
                <a:latin typeface="Arial"/>
              </a:defRPr>
            </a:pPr>
            <a:r>
              <a:t>ご覧頂きありがとうございました。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0" y="6172200"/>
            <a:ext cx="5303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300" b="0">
                <a:solidFill>
                  <a:srgbClr val="A08228"/>
                </a:solidFill>
                <a:latin typeface="Arial"/>
              </a:defRPr>
            </a:pPr>
            <a:r>
              <a:t>CRIMSON  —  Helluva Boss  |  Vivziepop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